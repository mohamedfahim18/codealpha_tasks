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42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86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84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15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62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9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87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40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22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9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537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73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691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572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3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112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28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B93AB-1B37-4D15-810B-8BDC829B1D3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47E22-848A-462A-8805-6B47E7CCD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844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D452-C4A0-3919-5B7B-D6E0D5955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F7EAD-1711-C83F-4DD9-B111C9370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Mohamed Fahim U</a:t>
            </a:r>
          </a:p>
        </p:txBody>
      </p:sp>
    </p:spTree>
    <p:extLst>
      <p:ext uri="{BB962C8B-B14F-4D97-AF65-F5344CB8AC3E}">
        <p14:creationId xmlns:p14="http://schemas.microsoft.com/office/powerpoint/2010/main" val="12119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1626-955E-19AA-8CF6-FEC0946A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373"/>
            <a:ext cx="10668000" cy="1293028"/>
          </a:xfrm>
        </p:spPr>
        <p:txBody>
          <a:bodyPr/>
          <a:lstStyle/>
          <a:p>
            <a:pPr algn="l"/>
            <a:r>
              <a:rPr lang="en-IN" b="1" dirty="0"/>
              <a:t>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B9177-A449-E2F6-6997-C1FC67617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283"/>
            <a:ext cx="10515600" cy="4200679"/>
          </a:xfrm>
        </p:spPr>
        <p:txBody>
          <a:bodyPr/>
          <a:lstStyle/>
          <a:p>
            <a:r>
              <a:rPr lang="en-IN" dirty="0"/>
              <a:t>Phishing is a cyberattack where attackers impersonate trusted organizations to steal sensitive information.</a:t>
            </a:r>
          </a:p>
          <a:p>
            <a:r>
              <a:rPr lang="en-IN" b="1" dirty="0"/>
              <a:t>Goals of attackers:</a:t>
            </a:r>
            <a:endParaRPr lang="en-IN" dirty="0"/>
          </a:p>
          <a:p>
            <a:r>
              <a:rPr lang="en-IN" dirty="0"/>
              <a:t>Passwords </a:t>
            </a:r>
          </a:p>
          <a:p>
            <a:r>
              <a:rPr lang="en-IN" dirty="0"/>
              <a:t>Bank details </a:t>
            </a:r>
          </a:p>
          <a:p>
            <a:r>
              <a:rPr lang="en-IN" dirty="0"/>
              <a:t>Credit card information </a:t>
            </a:r>
          </a:p>
          <a:p>
            <a:r>
              <a:rPr lang="en-IN" dirty="0"/>
              <a:t>Personal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93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90DD-3981-9C43-CF85-10648B443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N" b="1" dirty="0"/>
              <a:t>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7D3AF-62DB-EA95-2240-5705E70F6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Email Phishing </a:t>
            </a:r>
          </a:p>
          <a:p>
            <a:r>
              <a:rPr lang="en-IN" dirty="0"/>
              <a:t>Spear Phishing </a:t>
            </a:r>
          </a:p>
          <a:p>
            <a:r>
              <a:rPr lang="en-IN" dirty="0"/>
              <a:t>Smishing (SMS phishing) </a:t>
            </a:r>
          </a:p>
          <a:p>
            <a:r>
              <a:rPr lang="en-IN" dirty="0"/>
              <a:t>Vishing (Voice phishing) </a:t>
            </a:r>
          </a:p>
          <a:p>
            <a:r>
              <a:rPr lang="en-IN" dirty="0"/>
              <a:t>Clone Phishing</a:t>
            </a:r>
          </a:p>
        </p:txBody>
      </p:sp>
    </p:spTree>
    <p:extLst>
      <p:ext uri="{BB962C8B-B14F-4D97-AF65-F5344CB8AC3E}">
        <p14:creationId xmlns:p14="http://schemas.microsoft.com/office/powerpoint/2010/main" val="262478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4400-5EAD-5C05-4689-6364BB02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How to Recognize Phishing Emails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9DA5-4627-F70F-A2F0-0ED47B1F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Warning Signs</a:t>
            </a:r>
          </a:p>
          <a:p>
            <a:r>
              <a:rPr lang="en-IN" dirty="0"/>
              <a:t>Unknown sender</a:t>
            </a:r>
          </a:p>
          <a:p>
            <a:r>
              <a:rPr lang="en-IN" dirty="0"/>
              <a:t>Urgent language</a:t>
            </a:r>
          </a:p>
          <a:p>
            <a:r>
              <a:rPr lang="en-IN" dirty="0"/>
              <a:t>Suspicious links</a:t>
            </a:r>
          </a:p>
          <a:p>
            <a:r>
              <a:rPr lang="en-IN" dirty="0"/>
              <a:t>Grammar mistakes</a:t>
            </a:r>
          </a:p>
          <a:p>
            <a:r>
              <a:rPr lang="en-IN" dirty="0"/>
              <a:t>Unexpected attachments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00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EFEF-89AF-A93D-F5F6-280FB677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66" y="764373"/>
            <a:ext cx="10800734" cy="1293028"/>
          </a:xfrm>
        </p:spPr>
        <p:txBody>
          <a:bodyPr/>
          <a:lstStyle/>
          <a:p>
            <a:pPr algn="l"/>
            <a:r>
              <a:rPr lang="en-IN" b="1" dirty="0"/>
              <a:t>Fake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DE96D-40D3-DB58-3871-A3FBC90D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66" y="1553497"/>
            <a:ext cx="6703142" cy="46038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Things to check to detect fake websites:</a:t>
            </a:r>
          </a:p>
          <a:p>
            <a:r>
              <a:rPr lang="en-IN" dirty="0"/>
              <a:t>URL spelling </a:t>
            </a:r>
          </a:p>
          <a:p>
            <a:r>
              <a:rPr lang="en-IN" dirty="0"/>
              <a:t>HTTPS certificate </a:t>
            </a:r>
          </a:p>
          <a:p>
            <a:r>
              <a:rPr lang="en-IN" dirty="0"/>
              <a:t>Domain name 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Real:</a:t>
            </a:r>
          </a:p>
          <a:p>
            <a:r>
              <a:rPr lang="en-IN" dirty="0">
                <a:hlinkClick r:id="rId2"/>
              </a:rPr>
              <a:t>www.google.com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Fake:</a:t>
            </a:r>
          </a:p>
          <a:p>
            <a:pPr marL="0" indent="0">
              <a:buNone/>
            </a:pPr>
            <a:r>
              <a:rPr lang="en-IN" b="1" dirty="0"/>
              <a:t>www.gooogle-security.com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7F0F2-EC50-212A-1FCD-CFEE30F7F1EC}"/>
              </a:ext>
            </a:extLst>
          </p:cNvPr>
          <p:cNvSpPr txBox="1"/>
          <p:nvPr/>
        </p:nvSpPr>
        <p:spPr>
          <a:xfrm>
            <a:off x="5820698" y="2694039"/>
            <a:ext cx="317582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Red Flags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Extra letters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Strange domains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Poor design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47268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C8FF-A7CC-AB31-CC80-C03D1F09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N" b="1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FF932-9A7B-5CF2-94C0-F4EE4F422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Social engineering manipulates people into revealing information.</a:t>
            </a:r>
          </a:p>
          <a:p>
            <a:pPr marL="0" indent="0">
              <a:buNone/>
            </a:pPr>
            <a:r>
              <a:rPr lang="en-IN" dirty="0"/>
              <a:t>Common tactics:</a:t>
            </a:r>
          </a:p>
          <a:p>
            <a:r>
              <a:rPr lang="en-IN" dirty="0"/>
              <a:t>Fear </a:t>
            </a:r>
          </a:p>
          <a:p>
            <a:r>
              <a:rPr lang="en-IN" dirty="0"/>
              <a:t>Urgency </a:t>
            </a:r>
          </a:p>
          <a:p>
            <a:r>
              <a:rPr lang="en-IN" dirty="0"/>
              <a:t>Curiosity </a:t>
            </a:r>
          </a:p>
          <a:p>
            <a:r>
              <a:rPr lang="en-IN" dirty="0"/>
              <a:t>Authority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b="1" dirty="0"/>
              <a:t>"I am from IT support. Please tell me your password."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6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E1D3-72E8-CBBB-4740-79AE98A4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N" b="1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AC9D4-E345-CE47-AD46-944BF44CC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Fake Microsoft Login</a:t>
            </a:r>
          </a:p>
          <a:p>
            <a:r>
              <a:rPr lang="en-IN" dirty="0"/>
              <a:t>Attacker email:</a:t>
            </a:r>
          </a:p>
          <a:p>
            <a:r>
              <a:rPr lang="en-IN" dirty="0"/>
              <a:t>Your Microsoft account is expiring.</a:t>
            </a:r>
            <a:br>
              <a:rPr lang="en-IN" dirty="0"/>
            </a:br>
            <a:r>
              <a:rPr lang="en-IN" dirty="0"/>
              <a:t>Login immediately.</a:t>
            </a:r>
          </a:p>
          <a:p>
            <a:r>
              <a:rPr lang="en-IN" dirty="0"/>
              <a:t>Victim clicks fake login page and enters credentials.</a:t>
            </a:r>
          </a:p>
          <a:p>
            <a:r>
              <a:rPr lang="en-IN" dirty="0"/>
              <a:t>Result:</a:t>
            </a:r>
          </a:p>
          <a:p>
            <a:r>
              <a:rPr lang="en-IN" dirty="0"/>
              <a:t>Account compromised </a:t>
            </a:r>
          </a:p>
          <a:p>
            <a:r>
              <a:rPr lang="en-IN" dirty="0"/>
              <a:t>Data stolen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3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DCA8-3F2F-02C7-AA73-9DC136D1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64373"/>
            <a:ext cx="10668000" cy="1293028"/>
          </a:xfrm>
        </p:spPr>
        <p:txBody>
          <a:bodyPr/>
          <a:lstStyle/>
          <a:p>
            <a:pPr algn="l"/>
            <a:r>
              <a:rPr lang="en-IN" b="1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442B-8098-E04B-FA8B-D91A6F8C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2729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Do</a:t>
            </a:r>
          </a:p>
          <a:p>
            <a:r>
              <a:rPr lang="en-IN" dirty="0"/>
              <a:t>✔ Verify sender</a:t>
            </a:r>
          </a:p>
          <a:p>
            <a:r>
              <a:rPr lang="en-IN" dirty="0"/>
              <a:t>✔ Hover over links</a:t>
            </a:r>
          </a:p>
          <a:p>
            <a:r>
              <a:rPr lang="en-IN" dirty="0"/>
              <a:t>✔ Enable MFA</a:t>
            </a:r>
          </a:p>
          <a:p>
            <a:r>
              <a:rPr lang="en-IN" dirty="0"/>
              <a:t>✔ Keep software updated</a:t>
            </a:r>
          </a:p>
          <a:p>
            <a:r>
              <a:rPr lang="en-IN" dirty="0"/>
              <a:t>✔ Use antivirus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09CEB-F876-31FC-3732-FB23EFA41CF6}"/>
              </a:ext>
            </a:extLst>
          </p:cNvPr>
          <p:cNvSpPr txBox="1"/>
          <p:nvPr/>
        </p:nvSpPr>
        <p:spPr>
          <a:xfrm>
            <a:off x="5653548" y="1897626"/>
            <a:ext cx="42180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Don't</a:t>
            </a:r>
          </a:p>
          <a:p>
            <a:r>
              <a:rPr lang="en-IN" sz="2800" dirty="0"/>
              <a:t>✘ Share passwords</a:t>
            </a:r>
          </a:p>
          <a:p>
            <a:r>
              <a:rPr lang="en-IN" sz="2800" dirty="0"/>
              <a:t>✘ Open unknown attachments</a:t>
            </a:r>
          </a:p>
          <a:p>
            <a:r>
              <a:rPr lang="en-IN" sz="2800" dirty="0"/>
              <a:t>✘ Click suspicious links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94316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728C0F6-AFEB-B993-D03D-E2816B246ED7}"/>
              </a:ext>
            </a:extLst>
          </p:cNvPr>
          <p:cNvSpPr/>
          <p:nvPr/>
        </p:nvSpPr>
        <p:spPr>
          <a:xfrm>
            <a:off x="7708489" y="3313471"/>
            <a:ext cx="1032388" cy="412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B05B6-D5EE-6A2E-2B67-3A946FE115C9}"/>
              </a:ext>
            </a:extLst>
          </p:cNvPr>
          <p:cNvSpPr/>
          <p:nvPr/>
        </p:nvSpPr>
        <p:spPr>
          <a:xfrm>
            <a:off x="1514168" y="4522839"/>
            <a:ext cx="9537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364831-1D94-542E-D064-D96A00BFF198}"/>
              </a:ext>
            </a:extLst>
          </p:cNvPr>
          <p:cNvSpPr/>
          <p:nvPr/>
        </p:nvSpPr>
        <p:spPr>
          <a:xfrm>
            <a:off x="1514168" y="4021394"/>
            <a:ext cx="95372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46A17-5EC4-DA54-93F2-F15BCDB7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373"/>
            <a:ext cx="10668000" cy="1293028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Quiz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8E10-B2E0-F2AA-2BB4-14D11BB8E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196"/>
            <a:ext cx="516931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/>
              <a:t>Question 1</a:t>
            </a:r>
          </a:p>
          <a:p>
            <a:pPr marL="0" indent="0">
              <a:buNone/>
            </a:pPr>
            <a:r>
              <a:rPr lang="en-IN" sz="2600" dirty="0"/>
              <a:t>An email says:</a:t>
            </a:r>
          </a:p>
          <a:p>
            <a:pPr marL="0" indent="0">
              <a:buNone/>
            </a:pPr>
            <a:r>
              <a:rPr lang="en-IN" sz="2600" dirty="0"/>
              <a:t>"Your bank account will be suspended today. Click now."</a:t>
            </a:r>
          </a:p>
          <a:p>
            <a:pPr marL="0" indent="0">
              <a:buNone/>
            </a:pPr>
            <a:r>
              <a:rPr lang="en-IN" sz="2600" dirty="0"/>
              <a:t>Is it suspicious?</a:t>
            </a:r>
          </a:p>
          <a:p>
            <a:r>
              <a:rPr lang="en-IN" sz="2600" dirty="0"/>
              <a:t>A. Yes </a:t>
            </a:r>
          </a:p>
          <a:p>
            <a:r>
              <a:rPr lang="en-IN" sz="2600" dirty="0"/>
              <a:t>B. No</a:t>
            </a:r>
            <a:br>
              <a:rPr lang="en-IN" sz="2600" dirty="0"/>
            </a:br>
            <a:endParaRPr lang="en-IN" sz="2600" dirty="0"/>
          </a:p>
          <a:p>
            <a:endParaRPr lang="en-IN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49BE1-BEEE-0164-C993-B068CD469B7F}"/>
              </a:ext>
            </a:extLst>
          </p:cNvPr>
          <p:cNvSpPr txBox="1"/>
          <p:nvPr/>
        </p:nvSpPr>
        <p:spPr>
          <a:xfrm>
            <a:off x="6683478" y="1690688"/>
            <a:ext cx="39255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Question 2</a:t>
            </a:r>
          </a:p>
          <a:p>
            <a:r>
              <a:rPr lang="en-IN" sz="2600" dirty="0"/>
              <a:t>Should you share your password with IT support?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B.  No </a:t>
            </a:r>
          </a:p>
          <a:p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40EB9-5D11-DC73-502E-2F9E653246F2}"/>
              </a:ext>
            </a:extLst>
          </p:cNvPr>
          <p:cNvSpPr txBox="1"/>
          <p:nvPr/>
        </p:nvSpPr>
        <p:spPr>
          <a:xfrm>
            <a:off x="1091381" y="4950542"/>
            <a:ext cx="2227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Correct 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277EE-B8BF-2D58-40ED-73E8FA3FBB2B}"/>
              </a:ext>
            </a:extLst>
          </p:cNvPr>
          <p:cNvSpPr txBox="1"/>
          <p:nvPr/>
        </p:nvSpPr>
        <p:spPr>
          <a:xfrm>
            <a:off x="-1238865" y="2310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80EACA-FDA9-F857-1B3F-BCAA693D81F6}"/>
              </a:ext>
            </a:extLst>
          </p:cNvPr>
          <p:cNvSpPr txBox="1"/>
          <p:nvPr/>
        </p:nvSpPr>
        <p:spPr>
          <a:xfrm>
            <a:off x="1091381" y="5167312"/>
            <a:ext cx="163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Incorrect 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735B4C-058E-FFC2-010E-0D297128A669}"/>
              </a:ext>
            </a:extLst>
          </p:cNvPr>
          <p:cNvSpPr txBox="1"/>
          <p:nvPr/>
        </p:nvSpPr>
        <p:spPr>
          <a:xfrm>
            <a:off x="7482348" y="4726268"/>
            <a:ext cx="173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Incorrect ❌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66FE2D-4F9F-DACF-2874-7AFCF32C03E2}"/>
              </a:ext>
            </a:extLst>
          </p:cNvPr>
          <p:cNvSpPr txBox="1"/>
          <p:nvPr/>
        </p:nvSpPr>
        <p:spPr>
          <a:xfrm>
            <a:off x="7482348" y="4390726"/>
            <a:ext cx="2025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Correct ✅</a:t>
            </a:r>
          </a:p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D49CC1-BB21-8E8B-2CCB-36088D734433}"/>
              </a:ext>
            </a:extLst>
          </p:cNvPr>
          <p:cNvSpPr/>
          <p:nvPr/>
        </p:nvSpPr>
        <p:spPr>
          <a:xfrm>
            <a:off x="7708489" y="3790953"/>
            <a:ext cx="1032388" cy="412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3D0F25-90E7-9546-391F-C2F7E6CFAF0D}"/>
              </a:ext>
            </a:extLst>
          </p:cNvPr>
          <p:cNvSpPr txBox="1"/>
          <p:nvPr/>
        </p:nvSpPr>
        <p:spPr>
          <a:xfrm>
            <a:off x="7619379" y="3308277"/>
            <a:ext cx="693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4F868A-A987-4E49-1F28-3EBA257F6CFB}"/>
              </a:ext>
            </a:extLst>
          </p:cNvPr>
          <p:cNvSpPr txBox="1"/>
          <p:nvPr/>
        </p:nvSpPr>
        <p:spPr>
          <a:xfrm>
            <a:off x="7708489" y="3798332"/>
            <a:ext cx="604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65013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70E74-9C6C-6840-B067-04F6C4A9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DA52-0FED-E1C4-5E3A-BF78BA9B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Takeaways</a:t>
            </a:r>
          </a:p>
          <a:p>
            <a:r>
              <a:rPr lang="en-IN" dirty="0"/>
              <a:t>Think before clicking. </a:t>
            </a:r>
          </a:p>
          <a:p>
            <a:r>
              <a:rPr lang="en-IN" dirty="0"/>
              <a:t>Verify emails and websites. </a:t>
            </a:r>
          </a:p>
          <a:p>
            <a:r>
              <a:rPr lang="en-IN" dirty="0"/>
              <a:t>Use MFA. </a:t>
            </a:r>
          </a:p>
          <a:p>
            <a:r>
              <a:rPr lang="en-IN" dirty="0"/>
              <a:t>Report suspicious messages. </a:t>
            </a:r>
          </a:p>
          <a:p>
            <a:pPr marL="0" indent="0">
              <a:buNone/>
            </a:pPr>
            <a:endParaRPr lang="en-IN" b="1" dirty="0"/>
          </a:p>
          <a:p>
            <a:pPr marL="0" indent="0" algn="ctr">
              <a:buNone/>
            </a:pPr>
            <a:r>
              <a:rPr lang="en-IN" b="1" dirty="0"/>
              <a:t>Stay Alert, Stay Secure!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51660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136</TotalTime>
  <Words>289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Phishing Awareness Training</vt:lpstr>
      <vt:lpstr>Phishing</vt:lpstr>
      <vt:lpstr>Types of Phishing</vt:lpstr>
      <vt:lpstr>How to Recognize Phishing Emails </vt:lpstr>
      <vt:lpstr>Fake Websites</vt:lpstr>
      <vt:lpstr>Social Engineering</vt:lpstr>
      <vt:lpstr>Real-World Example</vt:lpstr>
      <vt:lpstr>Best Practices</vt:lpstr>
      <vt:lpstr>Quiz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Fahim</dc:creator>
  <cp:lastModifiedBy>Mohamed Fahim</cp:lastModifiedBy>
  <cp:revision>1</cp:revision>
  <dcterms:created xsi:type="dcterms:W3CDTF">2026-06-13T14:10:04Z</dcterms:created>
  <dcterms:modified xsi:type="dcterms:W3CDTF">2026-06-13T16:26:30Z</dcterms:modified>
</cp:coreProperties>
</file>